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7432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PepsiCo AppDynamics ETL Architecture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57200" y="1371600"/>
            <a:ext cx="1371600" cy="1097700"/>
          </a:xfrm>
          <a:prstGeom prst="roundRect">
            <a:avLst>
              <a:gd fmla="val 16667" name="adj"/>
            </a:avLst>
          </a:prstGeom>
          <a:solidFill>
            <a:srgbClr val="FFF4E6"/>
          </a:solidFill>
          <a:ln cap="flat" cmpd="sng" w="25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AppDynamics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License 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HTTPS/443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57200" y="2743200"/>
            <a:ext cx="1371600" cy="1097700"/>
          </a:xfrm>
          <a:prstGeom prst="roundRect">
            <a:avLst>
              <a:gd fmla="val 16667" name="adj"/>
            </a:avLst>
          </a:prstGeom>
          <a:solidFill>
            <a:srgbClr val="FFF4E6"/>
          </a:solidFill>
          <a:ln cap="flat" cmpd="sng" w="25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ServiceNow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CMDB 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HTTPS/443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2560320" y="1097280"/>
            <a:ext cx="2011800" cy="27432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25400">
            <a:solidFill>
              <a:srgbClr val="146E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AWS EC2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ETL Pipeline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Extract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Transform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Reconcile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Forecast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(Docker Container)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(Scheduled)</a:t>
            </a:r>
            <a:endParaRPr sz="1500"/>
          </a:p>
        </p:txBody>
      </p:sp>
      <p:sp>
        <p:nvSpPr>
          <p:cNvPr id="88" name="Google Shape;88;p13"/>
          <p:cNvSpPr/>
          <p:nvPr/>
        </p:nvSpPr>
        <p:spPr>
          <a:xfrm>
            <a:off x="5029200" y="1097280"/>
            <a:ext cx="2011800" cy="2743200"/>
          </a:xfrm>
          <a:prstGeom prst="roundRect">
            <a:avLst>
              <a:gd fmla="val 16667" name="adj"/>
            </a:avLst>
          </a:prstGeom>
          <a:solidFill>
            <a:srgbClr val="527FFF"/>
          </a:solidFill>
          <a:ln cap="flat" cmpd="sng" w="25400">
            <a:solidFill>
              <a:srgbClr val="505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AWS RDS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Facts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Dimensions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Views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Dashboard Data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Port: 5432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(Externally Accessible)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498079" y="1097280"/>
            <a:ext cx="1371600" cy="2743200"/>
          </a:xfrm>
          <a:prstGeom prst="roundRect">
            <a:avLst>
              <a:gd fmla="val 16667" name="adj"/>
            </a:avLst>
          </a:prstGeom>
          <a:solidFill>
            <a:srgbClr val="F46800"/>
          </a:solidFill>
          <a:ln cap="flat" cmpd="sng" w="25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sz="1500"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sz="1500"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endParaRPr sz="1500"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Dashboards</a:t>
            </a:r>
            <a:endParaRPr sz="1500"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Alerts</a:t>
            </a:r>
            <a:endParaRPr sz="1500">
              <a:solidFill>
                <a:schemeClr val="lt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Monitoring</a:t>
            </a:r>
            <a:endParaRPr sz="1500">
              <a:solidFill>
                <a:schemeClr val="lt2"/>
              </a:solidFill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1828800" y="1920240"/>
            <a:ext cx="731400" cy="91500"/>
          </a:xfrm>
          <a:prstGeom prst="straightConnector1">
            <a:avLst/>
          </a:prstGeom>
          <a:noFill/>
          <a:ln cap="flat" cmpd="sng" w="25400">
            <a:solidFill>
              <a:srgbClr val="505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91" name="Google Shape;91;p13"/>
          <p:cNvCxnSpPr/>
          <p:nvPr/>
        </p:nvCxnSpPr>
        <p:spPr>
          <a:xfrm flipH="1" rot="10800000">
            <a:off x="1828800" y="2926140"/>
            <a:ext cx="731400" cy="365700"/>
          </a:xfrm>
          <a:prstGeom prst="straightConnector1">
            <a:avLst/>
          </a:prstGeom>
          <a:noFill/>
          <a:ln cap="flat" cmpd="sng" w="25400">
            <a:solidFill>
              <a:srgbClr val="505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92" name="Google Shape;92;p13"/>
          <p:cNvCxnSpPr/>
          <p:nvPr/>
        </p:nvCxnSpPr>
        <p:spPr>
          <a:xfrm>
            <a:off x="4572000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505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93" name="Google Shape;93;p13"/>
          <p:cNvCxnSpPr/>
          <p:nvPr/>
        </p:nvCxnSpPr>
        <p:spPr>
          <a:xfrm>
            <a:off x="7040880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505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4" name="Google Shape;94;p13"/>
          <p:cNvSpPr/>
          <p:nvPr/>
        </p:nvSpPr>
        <p:spPr>
          <a:xfrm>
            <a:off x="457200" y="4114800"/>
            <a:ext cx="8229600" cy="24693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40080" y="4206240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 sz="2000"/>
          </a:p>
        </p:txBody>
      </p:sp>
      <p:sp>
        <p:nvSpPr>
          <p:cNvPr id="96" name="Google Shape;96;p13"/>
          <p:cNvSpPr txBox="1"/>
          <p:nvPr/>
        </p:nvSpPr>
        <p:spPr>
          <a:xfrm>
            <a:off x="731525" y="4606450"/>
            <a:ext cx="384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EB4"/>
                </a:solidFill>
                <a:latin typeface="Calibri"/>
                <a:ea typeface="Calibri"/>
                <a:cs typeface="Calibri"/>
                <a:sym typeface="Calibri"/>
              </a:rPr>
              <a:t>Data Flow: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1. APIs pull from AppDynamics &amp; ServiceNow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2. EC2 orchestrates ETL transformation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3. Data written to RDS PostgreSQL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4. Grafana queries RDS for dashboards</a:t>
            </a:r>
            <a:endParaRPr sz="1800"/>
          </a:p>
        </p:txBody>
      </p:sp>
      <p:sp>
        <p:nvSpPr>
          <p:cNvPr id="97" name="Google Shape;97;p13"/>
          <p:cNvSpPr txBox="1"/>
          <p:nvPr/>
        </p:nvSpPr>
        <p:spPr>
          <a:xfrm>
            <a:off x="4754875" y="4610488"/>
            <a:ext cx="384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AWS Configuration: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EC2 outbound HTTPS access (APIs)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RDS accepts EC2 connections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RDS accessible from external IP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• Credentials in Systems Manager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